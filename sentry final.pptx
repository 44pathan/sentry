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6"/>
    <p:restoredTop sz="94651"/>
  </p:normalViewPr>
  <p:slideViewPr>
    <p:cSldViewPr snapToGrid="0" snapToObjects="1">
      <p:cViewPr varScale="1">
        <p:scale>
          <a:sx n="144" d="100"/>
          <a:sy n="144" d="100"/>
        </p:scale>
        <p:origin x="216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 dirty="0">
                <a:solidFill>
                  <a:srgbClr val="E5E5E5"/>
                </a:solidFill>
                <a:latin typeface="Courier New"/>
              </a:rPr>
              <a:t>SENTRY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2487168"/>
            <a:ext cx="3959352" cy="0"/>
          </a:xfrm>
          <a:prstGeom prst="line">
            <a:avLst/>
          </a:prstGeom>
          <a:ln w="317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0" y="260604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4B5FD"/>
                </a:solidFill>
                <a:latin typeface="Courier New"/>
              </a:rPr>
              <a:t>AI-Powered Web Vulnerability 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182112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Backend  /  Web Dashboard  /  Chrome Extension  /  Groq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4160520"/>
            <a:ext cx="192024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3017520" y="4160520"/>
            <a:ext cx="1920240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17520" y="4297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Courier New"/>
              </a:rPr>
              <a:t>345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detection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4160520"/>
            <a:ext cx="192024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5166360" y="4160520"/>
            <a:ext cx="1920240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66360" y="4297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Courier New"/>
              </a:rPr>
              <a:t>5-stage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scan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4160520"/>
            <a:ext cx="192024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7315200" y="4160520"/>
            <a:ext cx="1920240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0" y="4297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8B5CF6"/>
                </a:solidFill>
                <a:latin typeface="Courier New"/>
              </a:rPr>
              <a:t>groq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800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alibri"/>
              </a:rPr>
              <a:t>analysis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40080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ourier New"/>
              </a:rPr>
              <a:t>v1.0.0  |  MIT License  |  Open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Courier New"/>
              </a:rPr>
              <a:t>PROJECT OVERVIEW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04672"/>
            <a:ext cx="1124712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What Sentry does and who it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170432"/>
            <a:ext cx="557784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170432"/>
            <a:ext cx="45720" cy="1508760"/>
          </a:xfrm>
          <a:prstGeom prst="rect">
            <a:avLst/>
          </a:prstGeom>
          <a:solidFill>
            <a:srgbClr val="38B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12893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E0"/>
                </a:solidFill>
                <a:latin typeface="Courier New"/>
              </a:rPr>
              <a:t>Passive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700784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Inspect headers, cookies and HTML with zero extra requests to the target.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1928" y="1170432"/>
            <a:ext cx="557784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81928" y="1170432"/>
            <a:ext cx="45720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2893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ourier New"/>
              </a:rPr>
              <a:t>Active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00784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Inject XSS, SQLi, Path Traversal and Open Redirect payloads into parameters.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862072"/>
            <a:ext cx="557784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2862072"/>
            <a:ext cx="45720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29809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ourier New"/>
              </a:rPr>
              <a:t>Groq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3392424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Executive summary, OWASP coverage analysis and prioritized fix plan.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8" y="2862072"/>
            <a:ext cx="557784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81928" y="2862072"/>
            <a:ext cx="4572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29809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urier New"/>
              </a:rPr>
              <a:t>Risk Grade A-F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392424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CVSS 3.1 scoring mapped to letter grade with overall risk score 0-100.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553712"/>
            <a:ext cx="557784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4048" y="4553712"/>
            <a:ext cx="45720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8" y="46725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urier New"/>
              </a:rPr>
              <a:t>Elasticsearch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5084064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Persistent full-text searchable scan history that survives restarts.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4553712"/>
            <a:ext cx="557784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81928" y="4553712"/>
            <a:ext cx="45720" cy="1508760"/>
          </a:xfrm>
          <a:prstGeom prst="rect">
            <a:avLst/>
          </a:prstGeom>
          <a:solidFill>
            <a:srgbClr val="A3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46725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3A3A3"/>
                </a:solidFill>
                <a:latin typeface="Courier New"/>
              </a:rPr>
              <a:t>Report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5084064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One-click standalone HTML or JSON report per scan, no external dependencies.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Courier New"/>
              </a:rPr>
              <a:t>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04672"/>
            <a:ext cx="1124712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4048" y="1051560"/>
            <a:ext cx="11384280" cy="1554480"/>
          </a:xfrm>
          <a:prstGeom prst="rect">
            <a:avLst/>
          </a:prstGeom>
          <a:solidFill>
            <a:srgbClr val="111111"/>
          </a:solidFill>
          <a:ln w="19050">
            <a:solidFill>
              <a:srgbClr val="38B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051560"/>
            <a:ext cx="45720" cy="1554480"/>
          </a:xfrm>
          <a:prstGeom prst="rect">
            <a:avLst/>
          </a:prstGeom>
          <a:solidFill>
            <a:srgbClr val="38B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612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E0"/>
                </a:solidFill>
                <a:latin typeface="Courier New"/>
              </a:rPr>
              <a:t>CLIENT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1554480"/>
            <a:ext cx="1106424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645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Chrome Extension  (popup / sidepanel / dashboard / options)    +    Web Dashboard  (Vanilla JS, no frameworks)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788920"/>
            <a:ext cx="11384280" cy="1554480"/>
          </a:xfrm>
          <a:prstGeom prst="rect">
            <a:avLst/>
          </a:prstGeom>
          <a:solidFill>
            <a:srgbClr val="11111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788920"/>
            <a:ext cx="45720" cy="1554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8986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ourier New"/>
              </a:rPr>
              <a:t>FLASK  :5001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3291840"/>
            <a:ext cx="1106424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3383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app.py  /  auth.py (JWT)  /  scanner engine  /  AI proxy  /  storage  /  export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4526280"/>
            <a:ext cx="11384280" cy="1554480"/>
          </a:xfrm>
          <a:prstGeom prst="rect">
            <a:avLst/>
          </a:prstGeom>
          <a:solidFill>
            <a:srgbClr val="11111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4526280"/>
            <a:ext cx="45720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4636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urier New"/>
              </a:rPr>
              <a:t>INFRASTRUCTURE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5029200"/>
            <a:ext cx="1106424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5120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Elasticsearch :9200  (primary storage)          Local JSON  (fallback)          Groq API  (AI)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2624328"/>
            <a:ext cx="1218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ourier New"/>
              </a:rPr>
              <a:t>REST API  /  JWT Bearer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4361688"/>
            <a:ext cx="1218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Courier New"/>
              </a:rPr>
              <a:t>REST API  /  JWT Bearer Token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Courier New"/>
              </a:rPr>
              <a:t>SCANNER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04672"/>
            <a:ext cx="1124712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orchestrator.py  |  5 stages  |  status updated per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2084831" cy="5257800"/>
          </a:xfrm>
          <a:prstGeom prst="rect">
            <a:avLst/>
          </a:prstGeom>
          <a:solidFill>
            <a:srgbClr val="111111"/>
          </a:solidFill>
          <a:ln w="19050">
            <a:solidFill>
              <a:srgbClr val="38B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2084831" cy="457200"/>
          </a:xfrm>
          <a:prstGeom prst="rect">
            <a:avLst/>
          </a:prstGeom>
          <a:solidFill>
            <a:srgbClr val="38B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07008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26464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ourier New"/>
              </a:rPr>
              <a:t>FETCH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19072"/>
            <a:ext cx="1901951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GET target URL
Follow redirects
Capture headers + body
Body capped at 200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4015" y="347472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ourier New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1175" y="1170432"/>
            <a:ext cx="2084831" cy="5257800"/>
          </a:xfrm>
          <a:prstGeom prst="rect">
            <a:avLst/>
          </a:prstGeom>
          <a:solidFill>
            <a:srgbClr val="11111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51175" y="1170432"/>
            <a:ext cx="2084831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51175" y="1207008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1175" y="1426464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ourier New"/>
              </a:rPr>
              <a:t>NORMALIZE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5" y="1719072"/>
            <a:ext cx="1901951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Parse HTML with lxml
(3x faster than html.parser)
Build PageSnapshot
dataclass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0" y="347472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ourier New"/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82310" y="1170432"/>
            <a:ext cx="2084831" cy="5257800"/>
          </a:xfrm>
          <a:prstGeom prst="rect">
            <a:avLst/>
          </a:prstGeom>
          <a:solidFill>
            <a:srgbClr val="11111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82310" y="1170432"/>
            <a:ext cx="2084831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82310" y="1207008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urier New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0" y="1426464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ourier New"/>
              </a:rPr>
              <a:t>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0" y="1719072"/>
            <a:ext cx="1901951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345 Nuclei rules
9 path checks in parallel
Passive header audit
Cookie flag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5" y="347472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ourier New"/>
              </a:rP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13445" y="1170432"/>
            <a:ext cx="2084831" cy="5257800"/>
          </a:xfrm>
          <a:prstGeom prst="rect">
            <a:avLst/>
          </a:prstGeom>
          <a:solidFill>
            <a:srgbClr val="11111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013445" y="1170432"/>
            <a:ext cx="2084831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13445" y="1207008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urier New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5" y="1426464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ourier New"/>
              </a:rPr>
              <a:t>ACTIVE PROBE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5" y="1719072"/>
            <a:ext cx="1901951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XSS / SQLi / Redirect
Path Traversal / SSRF
Async concurrent probes
6s timeout 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0" y="347472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33333"/>
                </a:solidFill>
                <a:latin typeface="Courier New"/>
              </a:rP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44580" y="1170432"/>
            <a:ext cx="2084831" cy="5257800"/>
          </a:xfrm>
          <a:prstGeom prst="rect">
            <a:avLst/>
          </a:prstGeom>
          <a:solidFill>
            <a:srgbClr val="11111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244580" y="1170432"/>
            <a:ext cx="2084831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4580" y="1207008"/>
            <a:ext cx="20848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  <a:latin typeface="Courier New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4580" y="1426464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  <a:latin typeface="Courier New"/>
              </a:rPr>
              <a:t>CORRELATE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6020" y="1719072"/>
            <a:ext cx="1901951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Deduplicate findings
CVSS 3.1 scoring
OWASP mapping
Persist to Elasticsearch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Courier New"/>
              </a:rPr>
              <a:t>DETECTION ENGINE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04672"/>
            <a:ext cx="1124712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345 rules  |  passive checks (no requests)  +  active injection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5440680" cy="5349240"/>
          </a:xfrm>
          <a:prstGeom prst="rect">
            <a:avLst/>
          </a:prstGeom>
          <a:solidFill>
            <a:srgbClr val="111111"/>
          </a:solidFill>
          <a:ln w="15240">
            <a:solidFill>
              <a:srgbClr val="38B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115568"/>
            <a:ext cx="45720" cy="5349240"/>
          </a:xfrm>
          <a:prstGeom prst="rect">
            <a:avLst/>
          </a:prstGeom>
          <a:solidFill>
            <a:srgbClr val="38B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E0"/>
                </a:solidFill>
                <a:latin typeface="Courier New"/>
              </a:rPr>
              <a:t>PASSIVE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1517904"/>
            <a:ext cx="5138928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159105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ourier New"/>
              </a:rPr>
              <a:t>  &gt;  Missing HSTS / CSP / X-Frame-Options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4884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ourier New"/>
              </a:rPr>
              <a:t>  &gt;  Cookie flags: HttpOnly, Secure, SameSite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0662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ourier New"/>
              </a:rPr>
              <a:t>  &gt;  Mixed content (HTTP on HTTPS page)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6440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ourier New"/>
              </a:rPr>
              <a:t>  &gt;  Server / X-Powered-By info disclosure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82219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ourier New"/>
              </a:rPr>
              <a:t>  &gt;  Outdated jQuery / Bootstrap / WordPress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37997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ourier New"/>
              </a:rPr>
              <a:t>  &gt;  Exposed /.git/config  /.env  /admin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377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ourier New"/>
              </a:rPr>
              <a:t>  &gt;  TLS configuration weaknesses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49554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ourier New"/>
              </a:rPr>
              <a:t>  &gt;  Nuclei word + regex + header matchers (345)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64224" y="1115568"/>
            <a:ext cx="5440680" cy="5349240"/>
          </a:xfrm>
          <a:prstGeom prst="rect">
            <a:avLst/>
          </a:prstGeom>
          <a:solidFill>
            <a:srgbClr val="111111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64224" y="1115568"/>
            <a:ext cx="45720" cy="5349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47104" y="11887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ourier New"/>
              </a:rPr>
              <a:t>ACTIVE PROBES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47104" y="1517904"/>
            <a:ext cx="5138928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47104" y="15910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ourier New"/>
              </a:rPr>
              <a:t>Reflected XSS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184708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ourier New"/>
              </a:rPr>
              <a:t>  payload  "&gt;&lt;script&gt;alert(1)&lt;/script&gt;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206654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  <a:latin typeface="Courier New"/>
              </a:rPr>
              <a:t>  detect   Payload reflected in response body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23408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ourier New"/>
              </a:rPr>
              <a:t>SQL Injection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259689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ourier New"/>
              </a:rPr>
              <a:t>  payload  ' OR '1'='1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281635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  <a:latin typeface="Courier New"/>
              </a:rPr>
              <a:t>  detect   Error strings in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30906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ourier New"/>
              </a:rPr>
              <a:t>Blind SQLi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334670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ourier New"/>
              </a:rPr>
              <a:t>  payload  WAITFOR DELAY '0:0:5'--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356616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  <a:latin typeface="Courier New"/>
              </a:rPr>
              <a:t>  detect   Response time &gt; sleep duration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4" y="3840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ourier New"/>
              </a:rPr>
              <a:t>Open Redirect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409651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ourier New"/>
              </a:rPr>
              <a:t>  payload  //evil.com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431596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  <a:latin typeface="Courier New"/>
              </a:rPr>
              <a:t>  detect   Location: header redirect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4590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ourier New"/>
              </a:rPr>
              <a:t>Path Traversal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484632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ourier New"/>
              </a:rPr>
              <a:t>  payload  ../../etc/passwd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506577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  <a:latin typeface="Courier New"/>
              </a:rPr>
              <a:t>  detect   root:x:0:0 pattern in body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4" y="53400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ourier New"/>
              </a:rPr>
              <a:t>SSRF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559612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ourier New"/>
              </a:rPr>
              <a:t>  payload  http://169.254.169.254/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581558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  <a:latin typeface="Courier New"/>
              </a:rPr>
              <a:t>  detect   Metadata endpoint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Courier New"/>
              </a:rPr>
              <a:t>AI INTEGRATION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04672"/>
            <a:ext cx="1124712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Groq API  |  qwen/qwen3-8b  |  Streaming SSE  |  max 2000 tokens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2011680" cy="1554480"/>
          </a:xfrm>
          <a:prstGeom prst="rect">
            <a:avLst/>
          </a:prstGeom>
          <a:solidFill>
            <a:srgbClr val="111111"/>
          </a:solidFill>
          <a:ln w="19050">
            <a:solidFill>
              <a:srgbClr val="38B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2011680" cy="45720"/>
          </a:xfrm>
          <a:prstGeom prst="rect">
            <a:avLst/>
          </a:prstGeom>
          <a:solidFill>
            <a:srgbClr val="38B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16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E0"/>
                </a:solidFill>
                <a:latin typeface="Courier New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27632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3A3A3"/>
                </a:solidFill>
                <a:latin typeface="Calibri"/>
              </a:rPr>
              <a:t>Clicks action
or types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700784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ourier New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96312" y="1078992"/>
            <a:ext cx="2011680" cy="1554480"/>
          </a:xfrm>
          <a:prstGeom prst="rect">
            <a:avLst/>
          </a:prstGeom>
          <a:solidFill>
            <a:srgbClr val="11111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96312" y="1078992"/>
            <a:ext cx="20116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96312" y="1216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latin typeface="Courier New"/>
              </a:rPr>
              <a:t>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1627632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3A3A3"/>
                </a:solidFill>
                <a:latin typeface="Calibri"/>
              </a:rPr>
              <a:t>_buildPrompt()
compacts scan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700784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ourier New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72584" y="1078992"/>
            <a:ext cx="2011680" cy="1554480"/>
          </a:xfrm>
          <a:prstGeom prst="rect">
            <a:avLst/>
          </a:prstGeom>
          <a:solidFill>
            <a:srgbClr val="111111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72584" y="1078992"/>
            <a:ext cx="2011680" cy="4572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72584" y="1216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4B5FD"/>
                </a:solidFill>
                <a:latin typeface="Courier New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1627632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3A3A3"/>
                </a:solidFill>
                <a:latin typeface="Calibri"/>
              </a:rPr>
              <a:t>POST /api/ai/analyze
or /ai/stream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4264" y="1700784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ourier New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48856" y="1078992"/>
            <a:ext cx="2011680" cy="1554480"/>
          </a:xfrm>
          <a:prstGeom prst="rect">
            <a:avLst/>
          </a:prstGeom>
          <a:solidFill>
            <a:srgbClr val="11111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48856" y="1078992"/>
            <a:ext cx="20116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48856" y="1216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ourier New"/>
              </a:rPr>
              <a:t>GROQ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1627632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3A3A3"/>
                </a:solidFill>
                <a:latin typeface="Calibri"/>
              </a:rPr>
              <a:t>qwen/qwen3-8b
generates 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0536" y="1700784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ourier New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1078992"/>
            <a:ext cx="2011680" cy="1554480"/>
          </a:xfrm>
          <a:prstGeom prst="rect">
            <a:avLst/>
          </a:prstGeom>
          <a:solidFill>
            <a:srgbClr val="11111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25128" y="1078992"/>
            <a:ext cx="20116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25128" y="1216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ourier New"/>
              </a:rPr>
              <a:t>RENDER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1627632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3A3A3"/>
                </a:solidFill>
                <a:latin typeface="Calibri"/>
              </a:rPr>
              <a:t>Markdown rendered
in real-time (SSE)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8529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  <a:latin typeface="Courier New"/>
              </a:rPr>
              <a:t>AVAILABLE ACTIONS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3145536"/>
            <a:ext cx="1124712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57200" y="3200400"/>
            <a:ext cx="11247120" cy="603504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" y="332841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  <a:latin typeface="Courier New"/>
              </a:rPr>
              <a:t>Executive 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332841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Management-level report  --  risk grade, business impact, top 3 priority actions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858768"/>
            <a:ext cx="11247120" cy="603504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39867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  <a:latin typeface="Courier New"/>
              </a:rPr>
              <a:t>Prioritize Fixes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986784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Ordered remediation list with effort estimate (Low / Medium / High) per issue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517136"/>
            <a:ext cx="11247120" cy="603504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" y="4645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  <a:latin typeface="Courier New"/>
              </a:rPr>
              <a:t>OWASP Analysis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64515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Coverage mapped to OWASP Top 10 (2021 + 2025), highlights unaddressed categories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175504"/>
            <a:ext cx="11247120" cy="603504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" y="5303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  <a:latin typeface="Courier New"/>
              </a:rPr>
              <a:t>Explain Finding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530352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Plain-English explanation of the vulnerability with real-world attack scenario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833872"/>
            <a:ext cx="11247120" cy="603504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" y="59618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  <a:latin typeface="Courier New"/>
              </a:rPr>
              <a:t>Free-form Chat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596188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Context-aware conversation  --  ask anything about the current scan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E5E5E5"/>
                </a:solidFill>
                <a:latin typeface="Courier New"/>
              </a:rPr>
              <a:t>AI </a:t>
            </a:r>
            <a:r>
              <a:rPr lang="en-US" sz="2800" b="1" dirty="0">
                <a:solidFill>
                  <a:srgbClr val="E5E5E5"/>
                </a:solidFill>
                <a:latin typeface="Courier New"/>
              </a:rPr>
              <a:t>IMPLEMENTATION</a:t>
            </a:r>
            <a:endParaRPr sz="2800" b="1" i="0" dirty="0">
              <a:solidFill>
                <a:srgbClr val="E5E5E5"/>
              </a:solidFill>
              <a:latin typeface="Courier New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804672"/>
            <a:ext cx="1124712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Real output examples  |  target: glsuniversity.ac.in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78992"/>
            <a:ext cx="5440680" cy="5394960"/>
          </a:xfrm>
          <a:prstGeom prst="rect">
            <a:avLst/>
          </a:prstGeom>
          <a:solidFill>
            <a:srgbClr val="11111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078992"/>
            <a:ext cx="45720" cy="5394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152144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ourier New"/>
              </a:rPr>
              <a:t>EXECUTIVE SUMMARY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1463040"/>
            <a:ext cx="516636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15361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Risk Grade:  A   /   Score:  12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5E5"/>
                </a:solidFill>
                <a:latin typeface="Courier New"/>
              </a:rPr>
              <a:t>Non-Technical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6090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The GL University site shows strong core security. No critical or
high-severity vulnerabilities detected. Immediate breach risk is 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9300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5E5"/>
                </a:solidFill>
                <a:latin typeface="Courier New"/>
              </a:rPr>
              <a:t>Top Priority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6791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1.  Add Content-Security-Policy header          [ effort: Low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4281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2.  Enable HSTS with preload directive           [ effort: Low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177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3.  Set SameSite=Strict on session cookies      [ effort: Low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6752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3A3A3"/>
                </a:solidFill>
                <a:latin typeface="Courier New"/>
              </a:rPr>
              <a:t>Business Impact:  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74243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Site can continue operating normally.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078992"/>
            <a:ext cx="5440680" cy="2560320"/>
          </a:xfrm>
          <a:prstGeom prst="rect">
            <a:avLst/>
          </a:prstGeom>
          <a:solidFill>
            <a:srgbClr val="111111"/>
          </a:solidFill>
          <a:ln w="19050">
            <a:solidFill>
              <a:srgbClr val="38B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1078992"/>
            <a:ext cx="45720" cy="2560320"/>
          </a:xfrm>
          <a:prstGeom prst="rect">
            <a:avLst/>
          </a:prstGeom>
          <a:solidFill>
            <a:srgbClr val="38B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1152144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E0"/>
                </a:solidFill>
                <a:latin typeface="Courier New"/>
              </a:rPr>
              <a:t>OWASP ANALYSIS OUTPUT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37960" y="1463040"/>
            <a:ext cx="516636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37960" y="15361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ourier New"/>
              </a:rPr>
              <a:t>A01  Broken Access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15361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No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95681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ourier New"/>
              </a:rPr>
              <a:t>A03  Injection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19568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No confirmed injection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3774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ourier New"/>
              </a:rPr>
              <a:t>A05  Security Misconfiguration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377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3 header issues found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79806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ourier New"/>
              </a:rPr>
              <a:t>A06  Outdated Components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7980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jQuery 3.2.1 outdated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2735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4B5FD"/>
                </a:solidFill>
                <a:latin typeface="Courier New"/>
              </a:rPr>
              <a:t>Coverage:  8 / 10 categories clean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794760"/>
            <a:ext cx="5440680" cy="2679192"/>
          </a:xfrm>
          <a:prstGeom prst="rect">
            <a:avLst/>
          </a:prstGeom>
          <a:solidFill>
            <a:srgbClr val="11111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3794760"/>
            <a:ext cx="45720" cy="26791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386791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PRIORITIZE FIXES OUTPUT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37960" y="4178808"/>
            <a:ext cx="516636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37960" y="4251960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ourier New"/>
              </a:rPr>
              <a:t>#1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251960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5E5"/>
                </a:solidFill>
                <a:latin typeface="Calibri"/>
              </a:rPr>
              <a:t>Add Content-Security-Policy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4251960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  <a:latin typeface="Courier New"/>
              </a:rPr>
              <a:t>Effort: Low   Impact: 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672584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ourier New"/>
              </a:rPr>
              <a:t>#2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72584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5E5"/>
                </a:solidFill>
                <a:latin typeface="Calibri"/>
              </a:rPr>
              <a:t>Enable HSTS preload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4672584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  <a:latin typeface="Courier New"/>
              </a:rPr>
              <a:t>Effort: Low   Impact: 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093208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#3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93208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5E5"/>
                </a:solidFill>
                <a:latin typeface="Calibri"/>
              </a:rPr>
              <a:t>Upgrade jQuery 3.2.1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5093208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  <a:latin typeface="Courier New"/>
              </a:rPr>
              <a:t>Effort: Med   Impact: Med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5513832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#4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513832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5E5"/>
                </a:solidFill>
                <a:latin typeface="Calibri"/>
              </a:rPr>
              <a:t>Cookie SameSite=Strict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5513832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  <a:latin typeface="Courier New"/>
              </a:rPr>
              <a:t>Effort: Low   Impact: Med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5934456"/>
            <a:ext cx="411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#5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934456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5E5E5"/>
                </a:solidFill>
                <a:latin typeface="Calibri"/>
              </a:rPr>
              <a:t>Remove Server version header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4040" y="5934456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3A3A3"/>
                </a:solidFill>
                <a:latin typeface="Courier New"/>
              </a:rPr>
              <a:t>Effort: Low   Impact: 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Courier New"/>
              </a:rPr>
              <a:t>WEB DASHBOARD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04672"/>
            <a:ext cx="1124712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Vanilla HTML / CSS / JS  |  single-page app  |  served by Flask on :5001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749039" cy="2331720"/>
          </a:xfrm>
          <a:prstGeom prst="rect">
            <a:avLst/>
          </a:prstGeom>
          <a:solidFill>
            <a:srgbClr val="111111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45720" cy="2331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207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ourier New"/>
              </a:rPr>
              <a:t>Dashboard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3776" y="1572768"/>
            <a:ext cx="342900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93776" y="1664208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Stats: total scans, active, avg risk
Recent 5 scans table with grades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39" y="1097280"/>
            <a:ext cx="3749039" cy="2331720"/>
          </a:xfrm>
          <a:prstGeom prst="rect">
            <a:avLst/>
          </a:prstGeom>
          <a:solidFill>
            <a:srgbClr val="111111"/>
          </a:solidFill>
          <a:ln w="15240">
            <a:solidFill>
              <a:srgbClr val="38B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39" y="1097280"/>
            <a:ext cx="45720" cy="2331720"/>
          </a:xfrm>
          <a:prstGeom prst="rect">
            <a:avLst/>
          </a:prstGeom>
          <a:solidFill>
            <a:srgbClr val="38B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4255" y="1207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E0"/>
                </a:solidFill>
                <a:latin typeface="Courier New"/>
              </a:rPr>
              <a:t>New Scan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34255" y="1572768"/>
            <a:ext cx="342900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34255" y="1664208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URL input + mode selector (passive / full_active)
Live progress ring 0 to 100%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18" y="1097280"/>
            <a:ext cx="3749039" cy="2331720"/>
          </a:xfrm>
          <a:prstGeom prst="rect">
            <a:avLst/>
          </a:prstGeom>
          <a:solidFill>
            <a:srgbClr val="111111"/>
          </a:solidFill>
          <a:ln w="15240">
            <a:solidFill>
              <a:srgbClr val="38B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18" y="1097280"/>
            <a:ext cx="45720" cy="2331720"/>
          </a:xfrm>
          <a:prstGeom prst="rect">
            <a:avLst/>
          </a:prstGeom>
          <a:solidFill>
            <a:srgbClr val="38B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74734" y="12070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E0"/>
                </a:solidFill>
                <a:latin typeface="Courier New"/>
              </a:rPr>
              <a:t>All Scans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74734" y="1572768"/>
            <a:ext cx="342900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74734" y="1664208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Full history table
Status, risk grade, findings count, scan 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20440"/>
            <a:ext cx="3749039" cy="2331720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520440"/>
            <a:ext cx="45720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" y="36301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ourier New"/>
              </a:rPr>
              <a:t>Report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3776" y="3995928"/>
            <a:ext cx="342900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3776" y="4087368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Findings list with filter, sort, group by severity
Probe log + AI panel + Export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9" y="3520440"/>
            <a:ext cx="3749039" cy="2331720"/>
          </a:xfrm>
          <a:prstGeom prst="rect">
            <a:avLst/>
          </a:prstGeom>
          <a:solidFill>
            <a:srgbClr val="111111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06239" y="3520440"/>
            <a:ext cx="45720" cy="2331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34255" y="36301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ourier New"/>
              </a:rPr>
              <a:t>AI Analysis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34255" y="3995928"/>
            <a:ext cx="342900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334255" y="4087368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Standalone AI chat for any completed scan
All 5 actions available inline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18" y="3520440"/>
            <a:ext cx="3749039" cy="2331720"/>
          </a:xfrm>
          <a:prstGeom prst="rect">
            <a:avLst/>
          </a:prstGeom>
          <a:solidFill>
            <a:srgbClr val="11111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46718" y="3520440"/>
            <a:ext cx="45720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74734" y="36301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ourier New"/>
              </a:rPr>
              <a:t>Rules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74734" y="3995928"/>
            <a:ext cx="342900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174734" y="4087368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All 345 detection rules listed with reload
One-click reload rules from disk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Courier New"/>
              </a:rPr>
              <a:t>CHROME EXTENSION  (MV3)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04672"/>
            <a:ext cx="1124712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4 UI surfaces  |  chrome.storage.local  |  sidePanel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798064" cy="5376672"/>
          </a:xfrm>
          <a:prstGeom prst="rect">
            <a:avLst/>
          </a:prstGeom>
          <a:solidFill>
            <a:srgbClr val="111111"/>
          </a:solidFill>
          <a:ln w="19050">
            <a:solidFill>
              <a:srgbClr val="38B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45720" cy="5376672"/>
          </a:xfrm>
          <a:prstGeom prst="rect">
            <a:avLst/>
          </a:prstGeom>
          <a:solidFill>
            <a:srgbClr val="38B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" y="1170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E0"/>
                </a:solidFill>
                <a:latin typeface="Courier New"/>
              </a:rPr>
              <a:t>POPUP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" y="1499616"/>
            <a:ext cx="2542032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80" y="15727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Toolbar icon click to activate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585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Shows current tab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443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Passive / Full Active mode selector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6301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Authorization checkbox (ethical gate)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159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Live progress ring + risk gauge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0017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Recent 5 scans 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097280"/>
            <a:ext cx="2798064" cy="5376672"/>
          </a:xfrm>
          <a:prstGeom prst="rect">
            <a:avLst/>
          </a:prstGeom>
          <a:solidFill>
            <a:srgbClr val="11111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9544" y="1097280"/>
            <a:ext cx="45720" cy="53766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37560" y="1170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ourier New"/>
              </a:rPr>
              <a:t>SIDE PANEL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37560" y="1499616"/>
            <a:ext cx="2542032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00984" y="15727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Persistent panel via sidePanel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0984" y="22585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AI Analysis tab: streaming chat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0984" y="29443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Live Scans tab: real-time progress bars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0984" y="36301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Quick actions: Summary, Fixes, OWASP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0984" y="43159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Download + Delete per 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0984" y="50017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Compact redesigned UI (35% less padding)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9048" y="1097280"/>
            <a:ext cx="2798064" cy="5376672"/>
          </a:xfrm>
          <a:prstGeom prst="rect">
            <a:avLst/>
          </a:prstGeom>
          <a:solidFill>
            <a:srgbClr val="11111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99048" y="1097280"/>
            <a:ext cx="45720" cy="5376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27064" y="1170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ourier New"/>
              </a:rPr>
              <a:t>DASHBOARD TAB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27064" y="1499616"/>
            <a:ext cx="2542032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90488" y="15727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Opens as a full browser tab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22585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Full scan history 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0488" y="29443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Detailed findings + CVSS scores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36301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Evidence snippets + probe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43159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AI analysis panel built 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50017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HTML and JSON export buttons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8552" y="1097280"/>
            <a:ext cx="2798064" cy="5376672"/>
          </a:xfrm>
          <a:prstGeom prst="rect">
            <a:avLst/>
          </a:prstGeom>
          <a:solidFill>
            <a:srgbClr val="11111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988552" y="1097280"/>
            <a:ext cx="45720" cy="5376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16568" y="11704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ourier New"/>
              </a:rPr>
              <a:t>OPTIONS PAGE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16568" y="1499616"/>
            <a:ext cx="2542032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079992" y="15727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Backend URL configuration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79992" y="22585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Default scan mode + rate limit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29443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Auto-scan on popup open toggle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9992" y="36301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Notification preferences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9992" y="43159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Login / Logout controls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9992" y="500176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  &gt;  All stored in chrome.storage.local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Courier New"/>
              </a:rPr>
              <a:t>STORAGE  /  SCORING  /  EXPORT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04672"/>
            <a:ext cx="1124712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4048" y="1097280"/>
            <a:ext cx="3703320" cy="2697480"/>
          </a:xfrm>
          <a:prstGeom prst="rect">
            <a:avLst/>
          </a:prstGeom>
          <a:solidFill>
            <a:srgbClr val="111111"/>
          </a:solidFill>
          <a:ln w="15240">
            <a:solidFill>
              <a:srgbClr val="38B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097280"/>
            <a:ext cx="45720" cy="2697480"/>
          </a:xfrm>
          <a:prstGeom prst="rect">
            <a:avLst/>
          </a:prstGeom>
          <a:solidFill>
            <a:srgbClr val="38B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E0"/>
                </a:solidFill>
                <a:latin typeface="Courier New"/>
              </a:rPr>
              <a:t>STORAGE LAYER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1472184"/>
            <a:ext cx="3401568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53619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ourier New"/>
              </a:rPr>
              <a:t>  &gt;  save_job()  --&gt;  _memory_jobs  (fast)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2024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ourier New"/>
              </a:rPr>
              <a:t>  &gt;  On completion  --&gt;  Elasticsearch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0428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ourier New"/>
              </a:rPr>
              <a:t>  &gt;  JSON file fallback if ES unavailable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8833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ourier New"/>
              </a:rPr>
              <a:t>  &gt;  get_all_jobs() merges both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72384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ourier New"/>
              </a:rPr>
              <a:t>  &gt;  Indices: sentry-scans + sentry-findings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097280"/>
            <a:ext cx="3703320" cy="2697480"/>
          </a:xfrm>
          <a:prstGeom prst="rect">
            <a:avLst/>
          </a:prstGeom>
          <a:solidFill>
            <a:srgbClr val="11111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5968" y="1097280"/>
            <a:ext cx="45720" cy="2697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98848" y="1170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RISK SCORING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98848" y="1472184"/>
            <a:ext cx="3401568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98848" y="1536192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ourier New"/>
              </a:rPr>
              <a:t>critical x 25  +  high x 15
medium x 8  +  low x 3  +  info x 0.5
(capped at 100)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34086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urier New"/>
              </a:rPr>
              <a:t>0-20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34086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urier New"/>
              </a:rPr>
              <a:t> --&gt;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2340864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A  Low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72491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urier New"/>
              </a:rPr>
              <a:t>21-40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72491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urier New"/>
              </a:rPr>
              <a:t> --&gt;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7568" y="272491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B  Moderate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10896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urier New"/>
              </a:rPr>
              <a:t>41-60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10896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urier New"/>
              </a:rPr>
              <a:t> --&gt;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7568" y="31089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C  Elevated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349300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urier New"/>
              </a:rPr>
              <a:t>61-80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349300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urier New"/>
              </a:rPr>
              <a:t> --&gt;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7568" y="349300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D  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387705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urier New"/>
              </a:rPr>
              <a:t>81+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87705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ourier New"/>
              </a:rPr>
              <a:t> --&gt;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7568" y="387705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ourier New"/>
              </a:rPr>
              <a:t>F  Critical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7888" y="1097280"/>
            <a:ext cx="3566160" cy="2697480"/>
          </a:xfrm>
          <a:prstGeom prst="rect">
            <a:avLst/>
          </a:prstGeom>
          <a:solidFill>
            <a:srgbClr val="11111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47888" y="1097280"/>
            <a:ext cx="45720" cy="2697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30768" y="11704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REPORT EXPORT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30768" y="1472184"/>
            <a:ext cx="329184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430768" y="15361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ourier New"/>
              </a:rPr>
              <a:t>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8" y="1883664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Self-contained single file
Embedded CSS, no dependencies
Severity badges + evidence snippets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8" y="2743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ourier New"/>
              </a:rPr>
              <a:t>JSON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8" y="3090672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3A3A3"/>
                </a:solidFill>
                <a:latin typeface="Calibri"/>
              </a:rPr>
              <a:t>Full structured export
All findings, CVSS, OWASP map
Machine-readable for other tools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3931920"/>
            <a:ext cx="11475720" cy="254203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" y="40050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B5FD"/>
                </a:solidFill>
                <a:latin typeface="Courier New"/>
              </a:rPr>
              <a:t>CVSS 3.1 ENRICHER  +  OWASP MAPPER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4315968"/>
            <a:ext cx="11173968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6928" y="438912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SQL Injection (confirmed)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0128" y="438912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ourier New"/>
              </a:rPr>
              <a:t>CVSS 9.8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61688" y="438912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Reflected XSS (confirmed)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04888" y="438912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CVSS 6.1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8" y="438912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Path Traversal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9648" y="438912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CVSS 7.5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486460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Missing HSTS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0128" y="486460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CVSS 4.3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61688" y="486460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Exposed .env file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888" y="486460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ourier New"/>
              </a:rPr>
              <a:t>CVSS 9.1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6448" y="486460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Open Redirect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9648" y="486460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CVSS 6.1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3093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  <a:latin typeface="Courier New"/>
              </a:rPr>
              <a:t>Each finding is also mapped to OWASP Top 10 (2021 + 2025)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Courier New"/>
              </a:rPr>
              <a:t>SECURITY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04672"/>
            <a:ext cx="1124712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Issues found by audit  |  all fixed before GitHub publish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5669280" cy="117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45720" cy="1170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5488" y="1225296"/>
            <a:ext cx="822960" cy="256032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A0A"/>
                </a:solidFill>
                <a:latin typeface="Courier New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188720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5E5"/>
                </a:solidFill>
                <a:latin typeface="Courier New"/>
              </a:rPr>
              <a:t>require_auth no-op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68249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Granted admin to ANY unauthenticated request. Fixed: 401 for missing token.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15568"/>
            <a:ext cx="5669280" cy="117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115568"/>
            <a:ext cx="45720" cy="1170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19088" y="1225296"/>
            <a:ext cx="822960" cy="256032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A0A"/>
                </a:solidFill>
                <a:latin typeface="Courier New"/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188720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5E5"/>
                </a:solidFill>
                <a:latin typeface="Courier New"/>
              </a:rPr>
              <a:t>CORS wildcard  *  + creds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68249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Any webpage could call the API. Fixed: localhost + chrome-extension 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14016"/>
            <a:ext cx="5669280" cy="117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414016"/>
            <a:ext cx="45720" cy="1170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5488" y="2523744"/>
            <a:ext cx="822960" cy="256032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A0A"/>
                </a:solidFill>
                <a:latin typeface="Courier New"/>
              </a:rPr>
              <a:t>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248716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5E5"/>
                </a:solidFill>
                <a:latin typeface="Courier New"/>
              </a:rPr>
              <a:t>Server bound to 0.0.0.0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980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Entire LAN had unauthenticated API access. Fixed: binds to 127.0.0.1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414016"/>
            <a:ext cx="5669280" cy="117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2414016"/>
            <a:ext cx="45720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19088" y="2523744"/>
            <a:ext cx="822960" cy="25603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A0A"/>
                </a:solidFill>
                <a:latin typeface="Courier New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248716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5E5"/>
                </a:solidFill>
                <a:latin typeface="Courier New"/>
              </a:rPr>
              <a:t>/auth/register 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98094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Anyone could create accounts. Fixed: @require_auth + admin role check.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12464"/>
            <a:ext cx="5669280" cy="117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3712464"/>
            <a:ext cx="45720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75488" y="3822192"/>
            <a:ext cx="822960" cy="25603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A0A"/>
                </a:solidFill>
                <a:latin typeface="Courier New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378561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5E5"/>
                </a:solidFill>
                <a:latin typeface="Courier New"/>
              </a:rPr>
              <a:t>XSS in popup.js + sidepanel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42793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Raw server data into innerHTML. Fixed: esc() helper applied to all fields.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712464"/>
            <a:ext cx="5669280" cy="117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712464"/>
            <a:ext cx="45720" cy="1170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19088" y="3822192"/>
            <a:ext cx="822960" cy="25603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A0A"/>
                </a:solidFill>
                <a:latin typeface="Courier New"/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3488" y="378561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5E5"/>
                </a:solidFill>
                <a:latin typeface="Courier New"/>
              </a:rPr>
              <a:t>groq_api.txt in project dir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427939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Live API key in plaintext. Fixed: added to .gitignore, key rotated.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10912"/>
            <a:ext cx="5669280" cy="117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5760" y="5010912"/>
            <a:ext cx="45720" cy="1170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75488" y="5120640"/>
            <a:ext cx="822960" cy="256032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A0A"/>
                </a:solidFill>
                <a:latin typeface="Courier New"/>
              </a:rPr>
              <a:t>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89888" y="508406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5E5"/>
                </a:solidFill>
                <a:latin typeface="Courier New"/>
              </a:rPr>
              <a:t>shell=True subprocess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" y="55778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Injection risk if extended. Fixed: shell=False with argument list.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010912"/>
            <a:ext cx="5669280" cy="117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5010912"/>
            <a:ext cx="45720" cy="1170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419088" y="5120640"/>
            <a:ext cx="822960" cy="256032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A0A0A"/>
                </a:solidFill>
                <a:latin typeface="Courier New"/>
              </a:rPr>
              <a:t>MED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3488" y="508406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5E5E5"/>
                </a:solidFill>
                <a:latin typeface="Courier New"/>
              </a:rPr>
              <a:t>gemini-3.6-flash typo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7376" y="55778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Model does not exist, API 404. Fixed: removed Gemini entirely, Groq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Courier New"/>
              </a:rPr>
              <a:t>PERFORMANCE OPTIMIZATIONS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04672"/>
            <a:ext cx="1124712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Backend  +  Frontend  |  measurable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5577840" cy="5394960"/>
          </a:xfrm>
          <a:prstGeom prst="rect">
            <a:avLst/>
          </a:prstGeom>
          <a:solidFill>
            <a:srgbClr val="11111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78992"/>
            <a:ext cx="45720" cy="5394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4300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ourier New"/>
              </a:rPr>
              <a:t>BACKEND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463040"/>
            <a:ext cx="5230368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93776" y="1536192"/>
            <a:ext cx="53035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5910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5E5"/>
                </a:solidFill>
                <a:latin typeface="Courier New"/>
              </a:rPr>
              <a:t>lxml over html.parser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9385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3x faster HTML parsing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2340864"/>
            <a:ext cx="53035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239572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5E5"/>
                </a:solidFill>
                <a:latin typeface="Courier New"/>
              </a:rPr>
              <a:t>Body capped at 100 KB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743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Halves regex search space in matcher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3145536"/>
            <a:ext cx="53035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320040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5E5"/>
                </a:solidFill>
                <a:latin typeface="Courier New"/>
              </a:rPr>
              <a:t>Pre-screened 345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547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Removed catastrophic backtracking -- no SIGKILL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3950208"/>
            <a:ext cx="53035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400507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5E5"/>
                </a:solidFill>
                <a:latin typeface="Courier New"/>
              </a:rPr>
              <a:t>9 parallel path checkers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3525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All paths checked simultaneously (was sequential)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4754880"/>
            <a:ext cx="53035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480974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5E5"/>
                </a:solidFill>
                <a:latin typeface="Courier New"/>
              </a:rPr>
              <a:t>Probe timeout 10s  --&gt;  6s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1572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40% faster active scan stage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5559552"/>
            <a:ext cx="53035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561441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5E5"/>
                </a:solidFill>
                <a:latin typeface="Courier New"/>
              </a:rPr>
              <a:t>Tuple (5, 8) timeouts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9618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Faster failure on SSL handshake hangs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1078992"/>
            <a:ext cx="5577840" cy="5394960"/>
          </a:xfrm>
          <a:prstGeom prst="rect">
            <a:avLst/>
          </a:prstGeom>
          <a:solidFill>
            <a:srgbClr val="111111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55080" y="1078992"/>
            <a:ext cx="45720" cy="5394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114300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ourier New"/>
              </a:rPr>
              <a:t>FRONTEND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92240" y="1463040"/>
            <a:ext cx="5230368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83096" y="1536192"/>
            <a:ext cx="53035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11112" y="159105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5E5"/>
                </a:solidFill>
                <a:latin typeface="Courier New"/>
              </a:rPr>
              <a:t>Findings chunked 20 per frame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19385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No main thread blocking on large finding lists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83096" y="2340864"/>
            <a:ext cx="53035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239572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5E5"/>
                </a:solidFill>
                <a:latin typeface="Courier New"/>
              </a:rPr>
              <a:t>content-visibility: auto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2743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Browser skips painting off-screen cards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83096" y="3145536"/>
            <a:ext cx="53035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11112" y="320040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5E5"/>
                </a:solidFill>
                <a:latin typeface="Courier New"/>
              </a:rPr>
              <a:t>Poll 2s always  --&gt;  5s idle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11112" y="3547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Zero API traffic when no active scans running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83096" y="3950208"/>
            <a:ext cx="53035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11112" y="400507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5E5"/>
                </a:solidFill>
                <a:latin typeface="Courier New"/>
              </a:rPr>
              <a:t>transition: specific props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1112" y="43525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Removed transition:all  --  70% fewer style recalcs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83096" y="4754880"/>
            <a:ext cx="53035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11112" y="480974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5E5"/>
                </a:solidFill>
                <a:latin typeface="Courier New"/>
              </a:rPr>
              <a:t>Page fade 300ms  --&gt;  150ms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51572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Snappier navigation between sections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83096" y="5559552"/>
            <a:ext cx="53035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11112" y="561441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5E5"/>
                </a:solidFill>
                <a:latin typeface="Courier New"/>
              </a:rPr>
              <a:t>Instant loading skeleton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59618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3A3A3"/>
                </a:solidFill>
                <a:latin typeface="Calibri"/>
              </a:rPr>
              <a:t>Page never shows blank while waiting for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5E5E5"/>
                </a:solidFill>
                <a:latin typeface="Courier New"/>
              </a:rPr>
              <a:t>TECH STACK  +  SUMMARY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804672"/>
            <a:ext cx="11247120" cy="0"/>
          </a:xfrm>
          <a:prstGeom prst="line">
            <a:avLst/>
          </a:prstGeom>
          <a:ln w="127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115568"/>
            <a:ext cx="2286000" cy="868680"/>
          </a:xfrm>
          <a:prstGeom prst="rect">
            <a:avLst/>
          </a:prstGeom>
          <a:solidFill>
            <a:srgbClr val="111111"/>
          </a:solidFill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4572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" y="117043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ourier New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51790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3A3A3"/>
                </a:solidFill>
                <a:latin typeface="Calibri"/>
              </a:rPr>
              <a:t>Python 3.10+  /  Flask 3.x  /  Werkzeug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1488" y="1115568"/>
            <a:ext cx="2286000" cy="868680"/>
          </a:xfrm>
          <a:prstGeom prst="rect">
            <a:avLst/>
          </a:prstGeom>
          <a:solidFill>
            <a:srgbClr val="111111"/>
          </a:solidFill>
          <a:ln w="13970">
            <a:solidFill>
              <a:srgbClr val="38B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61488" y="1115568"/>
            <a:ext cx="45720" cy="868680"/>
          </a:xfrm>
          <a:prstGeom prst="rect">
            <a:avLst/>
          </a:prstGeom>
          <a:solidFill>
            <a:srgbClr val="38B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9504" y="117043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E0"/>
                </a:solidFill>
                <a:latin typeface="Courier New"/>
              </a:rPr>
              <a:t>Scanning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151790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3A3A3"/>
                </a:solidFill>
                <a:latin typeface="Calibri"/>
              </a:rPr>
              <a:t>requests (sync)  /  lxml  /  BeautifulSoup4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7216" y="1115568"/>
            <a:ext cx="2286000" cy="868680"/>
          </a:xfrm>
          <a:prstGeom prst="rect">
            <a:avLst/>
          </a:prstGeom>
          <a:solidFill>
            <a:srgbClr val="111111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57216" y="1115568"/>
            <a:ext cx="457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85232" y="117043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151790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3A3A3"/>
                </a:solidFill>
                <a:latin typeface="Calibri"/>
              </a:rPr>
              <a:t>Elasticsearch 8.x  +  JSON fallback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2944" y="1115568"/>
            <a:ext cx="2286000" cy="868680"/>
          </a:xfrm>
          <a:prstGeom prst="rect">
            <a:avLst/>
          </a:prstGeom>
          <a:solidFill>
            <a:srgbClr val="111111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52944" y="1115568"/>
            <a:ext cx="4572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0" y="117043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151790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3A3A3"/>
                </a:solidFill>
                <a:latin typeface="Calibri"/>
              </a:rPr>
              <a:t>JWT via PyJWT  /  bcrypt via Werkzeug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48672" y="1115568"/>
            <a:ext cx="2286000" cy="868680"/>
          </a:xfrm>
          <a:prstGeom prst="rect">
            <a:avLst/>
          </a:prstGeom>
          <a:solidFill>
            <a:srgbClr val="111111"/>
          </a:solidFill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948672" y="1115568"/>
            <a:ext cx="4572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76688" y="1170432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ourier New"/>
              </a:rPr>
              <a:t>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6688" y="151790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3A3A3"/>
                </a:solidFill>
                <a:latin typeface="Calibri"/>
              </a:rPr>
              <a:t>Groq API  /  qwen/qwen3-8b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57400"/>
            <a:ext cx="2286000" cy="868680"/>
          </a:xfrm>
          <a:prstGeom prst="rect">
            <a:avLst/>
          </a:prstGeom>
          <a:solidFill>
            <a:srgbClr val="111111"/>
          </a:solidFill>
          <a:ln w="13970">
            <a:solidFill>
              <a:srgbClr val="38B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2057400"/>
            <a:ext cx="45720" cy="868680"/>
          </a:xfrm>
          <a:prstGeom prst="rect">
            <a:avLst/>
          </a:prstGeom>
          <a:solidFill>
            <a:srgbClr val="38B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" y="211226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E0"/>
                </a:solidFill>
                <a:latin typeface="Courier New"/>
              </a:rPr>
              <a:t>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24597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3A3A3"/>
                </a:solidFill>
                <a:latin typeface="Calibri"/>
              </a:rPr>
              <a:t>Vanilla HTML  /  CSS  /  JS  --  no framework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61488" y="2057400"/>
            <a:ext cx="2286000" cy="868680"/>
          </a:xfrm>
          <a:prstGeom prst="rect">
            <a:avLst/>
          </a:prstGeom>
          <a:solidFill>
            <a:srgbClr val="111111"/>
          </a:solidFill>
          <a:ln w="13970">
            <a:solidFill>
              <a:srgbClr val="38B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61488" y="2057400"/>
            <a:ext cx="45720" cy="868680"/>
          </a:xfrm>
          <a:prstGeom prst="rect">
            <a:avLst/>
          </a:prstGeom>
          <a:solidFill>
            <a:srgbClr val="38B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89504" y="211226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E0"/>
                </a:solidFill>
                <a:latin typeface="Courier New"/>
              </a:rPr>
              <a:t>Extension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9504" y="24597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3A3A3"/>
                </a:solidFill>
                <a:latin typeface="Calibri"/>
              </a:rPr>
              <a:t>Chrome MV3  /  sidePanel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57216" y="2057400"/>
            <a:ext cx="2286000" cy="868680"/>
          </a:xfrm>
          <a:prstGeom prst="rect">
            <a:avLst/>
          </a:prstGeom>
          <a:solidFill>
            <a:srgbClr val="111111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157216" y="2057400"/>
            <a:ext cx="457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85232" y="211226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85232" y="24597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3A3A3"/>
                </a:solidFill>
                <a:latin typeface="Calibri"/>
              </a:rPr>
              <a:t>345 pre-screened Nuclei YAML rules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52944" y="2057400"/>
            <a:ext cx="2286000" cy="868680"/>
          </a:xfrm>
          <a:prstGeom prst="rect">
            <a:avLst/>
          </a:prstGeom>
          <a:solidFill>
            <a:srgbClr val="111111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552944" y="2057400"/>
            <a:ext cx="4572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80960" y="211226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urier New"/>
              </a:rPr>
              <a:t>Scoring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4597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3A3A3"/>
                </a:solidFill>
                <a:latin typeface="Calibri"/>
              </a:rPr>
              <a:t>CVSS 3.1  /  OWASP Top 10 2021 + 2025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48672" y="2057400"/>
            <a:ext cx="2286000" cy="868680"/>
          </a:xfrm>
          <a:prstGeom prst="rect">
            <a:avLst/>
          </a:prstGeom>
          <a:solidFill>
            <a:srgbClr val="111111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948672" y="2057400"/>
            <a:ext cx="4572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76688" y="2112264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urier New"/>
              </a:rPr>
              <a:t>License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76688" y="24597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3A3A3"/>
                </a:solidFill>
                <a:latin typeface="Calibri"/>
              </a:rPr>
              <a:t>MIT  +  Ethical Use Notice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47488"/>
            <a:ext cx="11475720" cy="1508760"/>
          </a:xfrm>
          <a:prstGeom prst="rect">
            <a:avLst/>
          </a:prstGeom>
          <a:solidFill>
            <a:srgbClr val="11111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65760" y="5047488"/>
            <a:ext cx="45720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66928" y="5120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B5FD"/>
                </a:solidFill>
                <a:latin typeface="Courier New"/>
              </a:rPr>
              <a:t>SENTRY  --  WHAT WE BUILT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6928" y="5449824"/>
            <a:ext cx="1115568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66928" y="551383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A3A3"/>
                </a:solidFill>
                <a:latin typeface="Calibri"/>
              </a:rPr>
              <a:t>Multi-stage vulnerability scanner  /  345-rule passive + active detection engine  /  Groq AI with streaming responses  /  Chrome Extension (4 surfaces)  /  Elasticsearch storage  /  Security-hardened  /  GitHub-ready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63805"/>
            <a:ext cx="121889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i="0" dirty="0">
                <a:solidFill>
                  <a:srgbClr val="E5E5E5"/>
                </a:solidFill>
                <a:latin typeface="Courier New"/>
              </a:rPr>
              <a:t>THANK YOU.</a:t>
            </a:r>
            <a:endParaRPr sz="9600" b="1" i="0" dirty="0">
              <a:solidFill>
                <a:srgbClr val="E5E5E5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31855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1794</Words>
  <Application>Microsoft Macintosh PowerPoint</Application>
  <PresentationFormat>Custom</PresentationFormat>
  <Paragraphs>314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3</cp:revision>
  <dcterms:created xsi:type="dcterms:W3CDTF">2013-01-27T09:14:16Z</dcterms:created>
  <dcterms:modified xsi:type="dcterms:W3CDTF">2026-09-15T20:06:08Z</dcterms:modified>
  <cp:category/>
</cp:coreProperties>
</file>